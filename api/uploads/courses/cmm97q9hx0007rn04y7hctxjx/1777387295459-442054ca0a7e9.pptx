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E2138"/>
          </a:solidFill>
          <a:ln w="12700">
            <a:solidFill>
              <a:srgbClr val="0E21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28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54B"/>
                </a:solidFill>
              </a:rPr>
              <a:t>SUNUSTREAM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1371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8CFDA"/>
                </a:solidFill>
              </a:rPr>
              <a:t>Présentation pour Pikini Production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7F9"/>
                </a:solidFill>
              </a:rPr>
              <a:t>SunuStream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673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FDA"/>
                </a:solidFill>
              </a:rPr>
              <a:t>La plateforme de streaming dédiée à la culture sénégalaise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C8CFDA"/>
                </a:solidFill>
              </a:rPr>
              <a:t>Présentation de l’application, du storytelling produit et des wireframes déjà démontrables sur mobile.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658368" y="52303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E0B54B"/>
                </a:solidFill>
              </a:rPr>
              <a:t>Pour les dirigeants de Pikini Production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E0B54B"/>
                </a:solidFill>
              </a:rPr>
              <a:t>22 avril 2026</a:t>
            </a:r>
            <a:endParaRPr lang="en-US" sz="1360" dirty="0"/>
          </a:p>
        </p:txBody>
      </p:sp>
      <p:sp>
        <p:nvSpPr>
          <p:cNvPr id="6" name="Shape 4"/>
          <p:cNvSpPr/>
          <p:nvPr/>
        </p:nvSpPr>
        <p:spPr>
          <a:xfrm>
            <a:off x="6537960" y="868680"/>
            <a:ext cx="1828800" cy="5440680"/>
          </a:xfrm>
          <a:prstGeom prst="roundRect">
            <a:avLst>
              <a:gd name="adj" fmla="val 8000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7" name="Image 0" descr="/mnt/data/WhatsApp Image 2026-04-22 at 11.14.3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58620"/>
            <a:ext cx="1737360" cy="3860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63459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Accueil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503920" y="1143000"/>
            <a:ext cx="1828800" cy="5166360"/>
          </a:xfrm>
          <a:prstGeom prst="roundRect">
            <a:avLst>
              <a:gd name="adj" fmla="val 8000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10" name="Image 1" descr="/mnt/data/WhatsApp Image 2026-04-22 at 11.14.34 (2)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5780"/>
            <a:ext cx="1737360" cy="3860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0" y="63459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Fiche contenu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0469880" y="1508760"/>
            <a:ext cx="1325880" cy="4617720"/>
          </a:xfrm>
          <a:prstGeom prst="roundRect">
            <a:avLst>
              <a:gd name="adj" fmla="val 11034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13" name="Image 2" descr="/mnt/data/WhatsApp Image 2026-04-22 at 11.14.34 (3)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2446020"/>
            <a:ext cx="1234440" cy="274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69880" y="616305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Offline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31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1. Le constat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1133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Le contenu sénégalais mérite une expérience digitale plus lisible, plus fluide et plus valorisante.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709928"/>
            <a:ext cx="73152" cy="1289304"/>
          </a:xfrm>
          <a:prstGeom prst="rect">
            <a:avLst/>
          </a:prstGeom>
          <a:solidFill>
            <a:srgbClr val="E0B54B"/>
          </a:solidFill>
          <a:ln w="12700">
            <a:solidFill>
              <a:srgbClr val="E0B5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379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Des contenus déjà puissants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093976"/>
            <a:ext cx="32552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Films, séries, rendez-vous live et œuvres locales portent une richesse culturelle forte et reconnue.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58368" y="3200400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3218688"/>
            <a:ext cx="73152" cy="1289304"/>
          </a:xfrm>
          <a:prstGeom prst="rect">
            <a:avLst/>
          </a:prstGeom>
          <a:solidFill>
            <a:srgbClr val="E25C4A"/>
          </a:solidFill>
          <a:ln w="12700">
            <a:solidFill>
              <a:srgbClr val="E25C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346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Une visibilité encore dispersée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" y="3602736"/>
            <a:ext cx="32552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Les contenus sont souvent répartis entre plusieurs canaux, ce qui fragmente la découverte et l’expérience de visionnage.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58368" y="4709160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4727448"/>
            <a:ext cx="73152" cy="1289304"/>
          </a:xfrm>
          <a:prstGeom prst="rect">
            <a:avLst/>
          </a:prstGeom>
          <a:solidFill>
            <a:srgbClr val="23C488"/>
          </a:solidFill>
          <a:ln w="12700">
            <a:solidFill>
              <a:srgbClr val="23C4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855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Une attente de simplicité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" y="5111496"/>
            <a:ext cx="32552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Le public attend aujourd’hui une application claire, mobile, intuitive et adaptée à ses usages quotidiens.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54B"/>
                </a:solidFill>
              </a:rPr>
              <a:t>Notre réponse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217627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7F9"/>
                </a:solidFill>
              </a:rPr>
              <a:t>Créer une plateforme qui met en scène les contenus sénégalais dans une expérience unique, moderne et immédiatement compréhensible.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709160" y="366674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54B"/>
                </a:solidFill>
              </a:rPr>
              <a:t>•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4873752" y="3657600"/>
            <a:ext cx="5779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C8CFDA"/>
                </a:solidFill>
              </a:rPr>
              <a:t>Un espace unique pour découvrir et regarder.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4709160" y="417880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54B"/>
                </a:solidFill>
              </a:rPr>
              <a:t>•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4873752" y="4169664"/>
            <a:ext cx="5779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C8CFDA"/>
                </a:solidFill>
              </a:rPr>
              <a:t>Une navigation pensée pour le mobile.</a:t>
            </a:r>
            <a:endParaRPr lang="en-US" sz="1620" dirty="0"/>
          </a:p>
        </p:txBody>
      </p:sp>
      <p:sp>
        <p:nvSpPr>
          <p:cNvPr id="22" name="Text 20"/>
          <p:cNvSpPr/>
          <p:nvPr/>
        </p:nvSpPr>
        <p:spPr>
          <a:xfrm>
            <a:off x="4709160" y="469087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54B"/>
                </a:solidFill>
              </a:rPr>
              <a:t>•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4873752" y="4681728"/>
            <a:ext cx="5779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C8CFDA"/>
                </a:solidFill>
              </a:rPr>
              <a:t>Une présentation éditoriale qui donne envie.</a:t>
            </a:r>
            <a:endParaRPr lang="en-US" sz="1620" dirty="0"/>
          </a:p>
        </p:txBody>
      </p:sp>
      <p:sp>
        <p:nvSpPr>
          <p:cNvPr id="24" name="Text 22"/>
          <p:cNvSpPr/>
          <p:nvPr/>
        </p:nvSpPr>
        <p:spPr>
          <a:xfrm>
            <a:off x="4709160" y="520293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54B"/>
                </a:solidFill>
              </a:rPr>
              <a:t>•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4873752" y="5193792"/>
            <a:ext cx="5779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C8CFDA"/>
                </a:solidFill>
              </a:rPr>
              <a:t>Un produit que l’on peut déjà montrer en démo.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31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2. SunuStream, c’est quoi 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1133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Une application mobile centrée sur l’expérience de visionnage et la mise en valeur du contenu local.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786384" y="176479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0" b="1" dirty="0">
                <a:solidFill>
                  <a:srgbClr val="E0B54B"/>
                </a:solidFill>
              </a:rPr>
              <a:t>•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950976" y="1755648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F6F7F9"/>
                </a:solidFill>
              </a:rPr>
              <a:t>Regarder des films et séries sénégalais dans une interface dédiée.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786384" y="227685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0" b="1" dirty="0">
                <a:solidFill>
                  <a:srgbClr val="E0B54B"/>
                </a:solidFill>
              </a:rPr>
              <a:t>•</a:t>
            </a:r>
            <a:endParaRPr lang="en-US" sz="2020" dirty="0"/>
          </a:p>
        </p:txBody>
      </p:sp>
      <p:sp>
        <p:nvSpPr>
          <p:cNvPr id="7" name="Text 5"/>
          <p:cNvSpPr/>
          <p:nvPr/>
        </p:nvSpPr>
        <p:spPr>
          <a:xfrm>
            <a:off x="950976" y="2267712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F6F7F9"/>
                </a:solidFill>
              </a:rPr>
              <a:t>Mettre en avant des événements et temps forts éditoriaux.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786384" y="278892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0" b="1" dirty="0">
                <a:solidFill>
                  <a:srgbClr val="E0B54B"/>
                </a:solidFill>
              </a:rPr>
              <a:t>•</a:t>
            </a:r>
            <a:endParaRPr lang="en-US" sz="2020" dirty="0"/>
          </a:p>
        </p:txBody>
      </p:sp>
      <p:sp>
        <p:nvSpPr>
          <p:cNvPr id="9" name="Text 7"/>
          <p:cNvSpPr/>
          <p:nvPr/>
        </p:nvSpPr>
        <p:spPr>
          <a:xfrm>
            <a:off x="950976" y="2779776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F6F7F9"/>
                </a:solidFill>
              </a:rPr>
              <a:t>Retrouver facilement ses contenus grâce à la recherche, aux favoris et au profil.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786384" y="330098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0" b="1" dirty="0">
                <a:solidFill>
                  <a:srgbClr val="E0B54B"/>
                </a:solidFill>
              </a:rPr>
              <a:t>•</a:t>
            </a:r>
            <a:endParaRPr lang="en-US" sz="2020" dirty="0"/>
          </a:p>
        </p:txBody>
      </p:sp>
      <p:sp>
        <p:nvSpPr>
          <p:cNvPr id="11" name="Text 9"/>
          <p:cNvSpPr/>
          <p:nvPr/>
        </p:nvSpPr>
        <p:spPr>
          <a:xfrm>
            <a:off x="950976" y="3291840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F6F7F9"/>
                </a:solidFill>
              </a:rPr>
              <a:t>Télécharger pour prolonger l’usage hors connexion.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786384" y="381304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0" b="1" dirty="0">
                <a:solidFill>
                  <a:srgbClr val="E0B54B"/>
                </a:solidFill>
              </a:rPr>
              <a:t>•</a:t>
            </a:r>
            <a:endParaRPr lang="en-US" sz="2020" dirty="0"/>
          </a:p>
        </p:txBody>
      </p:sp>
      <p:sp>
        <p:nvSpPr>
          <p:cNvPr id="13" name="Text 11"/>
          <p:cNvSpPr/>
          <p:nvPr/>
        </p:nvSpPr>
        <p:spPr>
          <a:xfrm>
            <a:off x="950976" y="3803904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F6F7F9"/>
                </a:solidFill>
              </a:rPr>
              <a:t>Préparer une expérience cohérente qui pourra s’étendre à d’autres écrans.</a:t>
            </a:r>
            <a:endParaRPr lang="en-US" sz="1820" dirty="0"/>
          </a:p>
        </p:txBody>
      </p:sp>
      <p:sp>
        <p:nvSpPr>
          <p:cNvPr id="14" name="Shape 12"/>
          <p:cNvSpPr/>
          <p:nvPr/>
        </p:nvSpPr>
        <p:spPr>
          <a:xfrm>
            <a:off x="6629400" y="1755648"/>
            <a:ext cx="4800600" cy="1051560"/>
          </a:xfrm>
          <a:prstGeom prst="roundRect">
            <a:avLst>
              <a:gd name="adj" fmla="val 10435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47688" y="1773936"/>
            <a:ext cx="73152" cy="1014984"/>
          </a:xfrm>
          <a:prstGeom prst="rect">
            <a:avLst/>
          </a:prstGeom>
          <a:solidFill>
            <a:srgbClr val="E0B54B"/>
          </a:solidFill>
          <a:ln w="12700">
            <a:solidFill>
              <a:srgbClr val="E0B54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190195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Positionnement produit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0568" y="2157984"/>
            <a:ext cx="44897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Une expérience locale, premium dans sa perception, mais simple dans son usage.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629400" y="2971800"/>
            <a:ext cx="4800600" cy="1051560"/>
          </a:xfrm>
          <a:prstGeom prst="roundRect">
            <a:avLst>
              <a:gd name="adj" fmla="val 10435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2990088"/>
            <a:ext cx="73152" cy="1014984"/>
          </a:xfrm>
          <a:prstGeom prst="rect">
            <a:avLst/>
          </a:prstGeom>
          <a:solidFill>
            <a:srgbClr val="8B7BF2"/>
          </a:solidFill>
          <a:ln w="12700">
            <a:solidFill>
              <a:srgbClr val="8B7BF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311810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Valeur pour Pikini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30568" y="3374136"/>
            <a:ext cx="44897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Un écrin de diffusion qui ne se contente pas d’héberger les œuvres : il les met en avant.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629400" y="4187952"/>
            <a:ext cx="4800600" cy="1051560"/>
          </a:xfrm>
          <a:prstGeom prst="roundRect">
            <a:avLst>
              <a:gd name="adj" fmla="val 10435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47688" y="4206240"/>
            <a:ext cx="73152" cy="1014984"/>
          </a:xfrm>
          <a:prstGeom prst="rect">
            <a:avLst/>
          </a:prstGeom>
          <a:solidFill>
            <a:srgbClr val="23C488"/>
          </a:solidFill>
          <a:ln w="12700">
            <a:solidFill>
              <a:srgbClr val="23C48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433425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Ce que nous montrons demain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30568" y="4590288"/>
            <a:ext cx="44897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Un frontend mobile abouti visuellement, déjà prêt pour une démonstration sur un vrai device.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31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3. Les 4 piliers de l’expérience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1133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Quatre idées simples permettent de raconter l’application de façon claire et mémorable.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01368"/>
            <a:ext cx="73152" cy="1746504"/>
          </a:xfrm>
          <a:prstGeom prst="rect">
            <a:avLst/>
          </a:prstGeom>
          <a:solidFill>
            <a:srgbClr val="E0B54B"/>
          </a:solidFill>
          <a:ln w="12700">
            <a:solidFill>
              <a:srgbClr val="E0B5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93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Découverte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85416"/>
            <a:ext cx="229514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Un accueil éditorial qui met en avant les temps forts, les recommandations et les contenus à poursuivre.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566160" y="178308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1801368"/>
            <a:ext cx="73152" cy="1746504"/>
          </a:xfrm>
          <a:prstGeom prst="rect">
            <a:avLst/>
          </a:prstGeom>
          <a:solidFill>
            <a:srgbClr val="8B7BF2"/>
          </a:solidFill>
          <a:ln w="12700">
            <a:solidFill>
              <a:srgbClr val="8B7B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19293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Choix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67328" y="2185416"/>
            <a:ext cx="229514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Recherche rapide, fiche contenu lisible, synopsis, badges et actions principales immédiatement visibles.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19088" y="178308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1801368"/>
            <a:ext cx="73152" cy="1746504"/>
          </a:xfrm>
          <a:prstGeom prst="rect">
            <a:avLst/>
          </a:prstGeom>
          <a:solidFill>
            <a:srgbClr val="23C488"/>
          </a:solidFill>
          <a:ln w="12700">
            <a:solidFill>
              <a:srgbClr val="23C4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19293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Lecture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0256" y="2185416"/>
            <a:ext cx="229514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Un player simple et rassurant, pensé pour l’usage réel sur smartphone.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272016" y="1783080"/>
            <a:ext cx="2240280" cy="1783080"/>
          </a:xfrm>
          <a:prstGeom prst="roundRect">
            <a:avLst>
              <a:gd name="adj" fmla="val 6154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90304" y="1801368"/>
            <a:ext cx="73152" cy="1746504"/>
          </a:xfrm>
          <a:prstGeom prst="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73184" y="19293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Continuité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73184" y="2185416"/>
            <a:ext cx="19293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Favoris, profils et bibliothèque hors ligne pour prolonger naturellement l’expérience.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49808" y="418795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54B"/>
                </a:solidFill>
              </a:rPr>
              <a:t>Pourquoi ce découpage fonctionne bien en présentation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" y="453542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54B"/>
                </a:solidFill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" y="4526280"/>
            <a:ext cx="5321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FDA"/>
                </a:solidFill>
              </a:rPr>
              <a:t>Il parle d’usages concrets, pas de mécanique technique.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" y="504748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54B"/>
                </a:solidFill>
              </a:rPr>
              <a:t>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2688" y="5038344"/>
            <a:ext cx="5321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FDA"/>
                </a:solidFill>
              </a:rPr>
              <a:t>Il fait ressortir l’expérience avant la fonctionnalité.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8096" y="555955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54B"/>
                </a:solidFill>
              </a:rPr>
              <a:t>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2688" y="5550408"/>
            <a:ext cx="5321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FDA"/>
                </a:solidFill>
              </a:rPr>
              <a:t>Il prépare naturellement la démonstration live.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26680" y="3950208"/>
            <a:ext cx="1536192" cy="2514600"/>
          </a:xfrm>
          <a:prstGeom prst="roundRect">
            <a:avLst>
              <a:gd name="adj" fmla="val 9524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28" name="Image 0" descr="/mnt/data/WhatsApp Image 2026-04-22 at 11.14.3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9565" y="3995928"/>
            <a:ext cx="1090422" cy="24231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726680" y="6501384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Accueil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400032" y="3950208"/>
            <a:ext cx="1536192" cy="2514600"/>
          </a:xfrm>
          <a:prstGeom prst="roundRect">
            <a:avLst>
              <a:gd name="adj" fmla="val 9524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31" name="Image 1" descr="/mnt/data/WhatsApp Image 2026-04-22 at 11.14.34 (2)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2917" y="3995928"/>
            <a:ext cx="1090422" cy="242316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9400032" y="6501384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Détail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31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4. Parcours utilisateur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1133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De l’entrée dans l’application jusqu’au visionnage, le parcours reste simple, rapide et lisible.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47088"/>
            <a:ext cx="73152" cy="1380744"/>
          </a:xfrm>
          <a:prstGeom prst="rect">
            <a:avLst/>
          </a:prstGeom>
          <a:solidFill>
            <a:srgbClr val="E0B54B"/>
          </a:solidFill>
          <a:ln w="12700">
            <a:solidFill>
              <a:srgbClr val="E0B5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751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1. Je découvre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31136"/>
            <a:ext cx="229514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Je comprends immédiatement l’univers SunuStream et les contenus mis en avant.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593592" y="18288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847088"/>
            <a:ext cx="73152" cy="1380744"/>
          </a:xfrm>
          <a:prstGeom prst="rect">
            <a:avLst/>
          </a:prstGeom>
          <a:solidFill>
            <a:srgbClr val="8B7BF2"/>
          </a:solidFill>
          <a:ln w="12700">
            <a:solidFill>
              <a:srgbClr val="8B7B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9751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2. Je choisis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4760" y="2231136"/>
            <a:ext cx="229514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Je recherche ou j’ouvre une fiche contenu claire et rassurante.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73952" y="18288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847088"/>
            <a:ext cx="73152" cy="1380744"/>
          </a:xfrm>
          <a:prstGeom prst="rect">
            <a:avLst/>
          </a:prstGeom>
          <a:solidFill>
            <a:srgbClr val="23C488"/>
          </a:solidFill>
          <a:ln w="12700">
            <a:solidFill>
              <a:srgbClr val="23C4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9751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3. Je regarde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231136"/>
            <a:ext cx="229514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Je lance la lecture dans un environnement simple, centré sur la vidéo.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354312" y="182880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1847088"/>
            <a:ext cx="73152" cy="1380744"/>
          </a:xfrm>
          <a:prstGeom prst="rect">
            <a:avLst/>
          </a:prstGeom>
          <a:solidFill>
            <a:srgbClr val="4FA3FF"/>
          </a:solidFill>
          <a:ln w="12700">
            <a:solidFill>
              <a:srgbClr val="4FA3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55480" y="1975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4. Je retrouve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55480" y="2231136"/>
            <a:ext cx="17922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Je récupère mes téléchargements, mes favoris et mon historique.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49808" y="4069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54B"/>
                </a:solidFill>
              </a:rPr>
              <a:t>Promesse d’usage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" y="4407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7F9"/>
                </a:solidFill>
              </a:rPr>
              <a:t>Une application qui réduit la friction et laisse toute la place au contenu.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183880" y="3749040"/>
            <a:ext cx="1417320" cy="2468880"/>
          </a:xfrm>
          <a:prstGeom prst="roundRect">
            <a:avLst>
              <a:gd name="adj" fmla="val 10323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23" name="Image 0" descr="/mnt/data/WhatsApp Image 2026-04-22 at 11.14.35 (1)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3794760"/>
            <a:ext cx="1069848" cy="23774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183880" y="62544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Recherche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802368" y="3749040"/>
            <a:ext cx="1417320" cy="2468880"/>
          </a:xfrm>
          <a:prstGeom prst="roundRect">
            <a:avLst>
              <a:gd name="adj" fmla="val 10323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26" name="Image 1" descr="/mnt/data/WhatsApp Image 2026-04-22 at 11.14.3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104" y="3794760"/>
            <a:ext cx="1069848" cy="23774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802368" y="62544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Profil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31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5. Focus sur le storytelling contenu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1133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Chaque écran contribue à raconter une histoire autour des œuvres, des héros et des rendez-vous éditoriaux.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965960" cy="4434840"/>
          </a:xfrm>
          <a:prstGeom prst="roundRect">
            <a:avLst>
              <a:gd name="adj" fmla="val 7442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WhatsApp Image 2026-04-22 at 11.14.3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0540"/>
            <a:ext cx="1874520" cy="416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11733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Accueil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07792" y="1645920"/>
            <a:ext cx="1965960" cy="4434840"/>
          </a:xfrm>
          <a:prstGeom prst="roundRect">
            <a:avLst>
              <a:gd name="adj" fmla="val 7442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8" name="Image 1" descr="/mnt/data/WhatsApp Image 2026-04-22 at 11.14.34 (2)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1780540"/>
            <a:ext cx="1874520" cy="416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07792" y="611733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Fiche contenu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285232" y="17556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54B"/>
                </a:solidFill>
              </a:rPr>
              <a:t>Comment l’application raconte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303520" y="209397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E0B54B"/>
                </a:solidFill>
              </a:rPr>
              <a:t>•</a:t>
            </a:r>
            <a:endParaRPr lang="en-US" sz="1840" dirty="0"/>
          </a:p>
        </p:txBody>
      </p:sp>
      <p:sp>
        <p:nvSpPr>
          <p:cNvPr id="12" name="Text 8"/>
          <p:cNvSpPr/>
          <p:nvPr/>
        </p:nvSpPr>
        <p:spPr>
          <a:xfrm>
            <a:off x="5468112" y="2084832"/>
            <a:ext cx="5779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dirty="0">
                <a:solidFill>
                  <a:srgbClr val="C8CFDA"/>
                </a:solidFill>
              </a:rPr>
              <a:t>Un hero visuel qui transforme un programme en événement.</a:t>
            </a:r>
            <a:endParaRPr lang="en-US" sz="1640" dirty="0"/>
          </a:p>
        </p:txBody>
      </p:sp>
      <p:sp>
        <p:nvSpPr>
          <p:cNvPr id="13" name="Text 9"/>
          <p:cNvSpPr/>
          <p:nvPr/>
        </p:nvSpPr>
        <p:spPr>
          <a:xfrm>
            <a:off x="5303520" y="260604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E0B54B"/>
                </a:solidFill>
              </a:rPr>
              <a:t>•</a:t>
            </a:r>
            <a:endParaRPr lang="en-US" sz="1840" dirty="0"/>
          </a:p>
        </p:txBody>
      </p:sp>
      <p:sp>
        <p:nvSpPr>
          <p:cNvPr id="14" name="Text 10"/>
          <p:cNvSpPr/>
          <p:nvPr/>
        </p:nvSpPr>
        <p:spPr>
          <a:xfrm>
            <a:off x="5468112" y="2596896"/>
            <a:ext cx="5779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dirty="0">
                <a:solidFill>
                  <a:srgbClr val="C8CFDA"/>
                </a:solidFill>
              </a:rPr>
              <a:t>Des sections comme « Continuer à regarder » qui replongent l’utilisateur dans son histoire.</a:t>
            </a:r>
            <a:endParaRPr lang="en-US" sz="1640" dirty="0"/>
          </a:p>
        </p:txBody>
      </p:sp>
      <p:sp>
        <p:nvSpPr>
          <p:cNvPr id="15" name="Text 11"/>
          <p:cNvSpPr/>
          <p:nvPr/>
        </p:nvSpPr>
        <p:spPr>
          <a:xfrm>
            <a:off x="5303520" y="311810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E0B54B"/>
                </a:solidFill>
              </a:rPr>
              <a:t>•</a:t>
            </a:r>
            <a:endParaRPr lang="en-US" sz="1840" dirty="0"/>
          </a:p>
        </p:txBody>
      </p:sp>
      <p:sp>
        <p:nvSpPr>
          <p:cNvPr id="16" name="Text 12"/>
          <p:cNvSpPr/>
          <p:nvPr/>
        </p:nvSpPr>
        <p:spPr>
          <a:xfrm>
            <a:off x="5468112" y="3108960"/>
            <a:ext cx="5779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dirty="0">
                <a:solidFill>
                  <a:srgbClr val="C8CFDA"/>
                </a:solidFill>
              </a:rPr>
              <a:t>Des badges éditoriaux qui hiérarchisent les contenus et renforcent leur identité.</a:t>
            </a:r>
            <a:endParaRPr lang="en-US" sz="1640" dirty="0"/>
          </a:p>
        </p:txBody>
      </p:sp>
      <p:sp>
        <p:nvSpPr>
          <p:cNvPr id="17" name="Text 13"/>
          <p:cNvSpPr/>
          <p:nvPr/>
        </p:nvSpPr>
        <p:spPr>
          <a:xfrm>
            <a:off x="5303520" y="363016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E0B54B"/>
                </a:solidFill>
              </a:rPr>
              <a:t>•</a:t>
            </a:r>
            <a:endParaRPr lang="en-US" sz="1840" dirty="0"/>
          </a:p>
        </p:txBody>
      </p:sp>
      <p:sp>
        <p:nvSpPr>
          <p:cNvPr id="18" name="Text 14"/>
          <p:cNvSpPr/>
          <p:nvPr/>
        </p:nvSpPr>
        <p:spPr>
          <a:xfrm>
            <a:off x="5468112" y="3621024"/>
            <a:ext cx="5779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dirty="0">
                <a:solidFill>
                  <a:srgbClr val="C8CFDA"/>
                </a:solidFill>
              </a:rPr>
              <a:t>Une fiche détail qui prolonge l’envie avec synopsis, casting et actions claires.</a:t>
            </a:r>
            <a:endParaRPr lang="en-US" sz="1640" dirty="0"/>
          </a:p>
        </p:txBody>
      </p:sp>
      <p:sp>
        <p:nvSpPr>
          <p:cNvPr id="19" name="Shape 15"/>
          <p:cNvSpPr/>
          <p:nvPr/>
        </p:nvSpPr>
        <p:spPr>
          <a:xfrm>
            <a:off x="5285232" y="4983480"/>
            <a:ext cx="5577840" cy="960120"/>
          </a:xfrm>
          <a:prstGeom prst="roundRect">
            <a:avLst>
              <a:gd name="adj" fmla="val 11429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03520" y="5001768"/>
            <a:ext cx="73152" cy="923544"/>
          </a:xfrm>
          <a:prstGeom prst="rect">
            <a:avLst/>
          </a:prstGeom>
          <a:solidFill>
            <a:srgbClr val="23C488"/>
          </a:solidFill>
          <a:ln w="12700">
            <a:solidFill>
              <a:srgbClr val="23C488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86400" y="51297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Lecture pour Pikini Production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486400" y="5385816"/>
            <a:ext cx="5266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L’application devient un amplificateur éditorial : elle met les œuvres en scène, elle ne les juxtapose pas.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31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6. Aperçu de l’interface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1133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Les wireframes déjà intégrés dans le frontend couvrent les moments clés de la navigation.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94944" y="1645920"/>
            <a:ext cx="1828800" cy="4526280"/>
          </a:xfrm>
          <a:prstGeom prst="roundRect">
            <a:avLst>
              <a:gd name="adj" fmla="val 8000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WhatsApp Image 2026-04-22 at 11.14.3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78660"/>
            <a:ext cx="1737360" cy="3860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62087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Accueil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24912" y="1645920"/>
            <a:ext cx="1828800" cy="4526280"/>
          </a:xfrm>
          <a:prstGeom prst="roundRect">
            <a:avLst>
              <a:gd name="adj" fmla="val 8000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8" name="Image 1" descr="/mnt/data/WhatsApp Image 2026-04-22 at 11.14.35 (1)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978660"/>
            <a:ext cx="1737360" cy="3860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24912" y="62087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Recherche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54880" y="1645920"/>
            <a:ext cx="1828800" cy="4526280"/>
          </a:xfrm>
          <a:prstGeom prst="roundRect">
            <a:avLst>
              <a:gd name="adj" fmla="val 8000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11" name="Image 2" descr="/mnt/data/WhatsApp Image 2026-04-22 at 11.14.34 (2)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978660"/>
            <a:ext cx="1737360" cy="3860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62087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Fiche détail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784848" y="1645920"/>
            <a:ext cx="1828800" cy="4526280"/>
          </a:xfrm>
          <a:prstGeom prst="roundRect">
            <a:avLst>
              <a:gd name="adj" fmla="val 8000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14" name="Image 3" descr="/mnt/data/WhatsApp Image 2026-04-22 at 11.14.34 (1)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978660"/>
            <a:ext cx="1737360" cy="3860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84848" y="62087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Lecteur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8814816" y="1645920"/>
            <a:ext cx="1828800" cy="4526280"/>
          </a:xfrm>
          <a:prstGeom prst="roundRect">
            <a:avLst>
              <a:gd name="adj" fmla="val 8000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17" name="Image 4" descr="/mnt/data/WhatsApp Image 2026-04-22 at 11.14.34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1978660"/>
            <a:ext cx="1737360" cy="38608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814816" y="62087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Profil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10561320" y="1783080"/>
            <a:ext cx="1143000" cy="4434840"/>
          </a:xfrm>
          <a:prstGeom prst="roundRect">
            <a:avLst>
              <a:gd name="adj" fmla="val 11200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10698480" y="19659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6F7F9"/>
                </a:solidFill>
              </a:rPr>
              <a:t>Points à commenter</a:t>
            </a:r>
            <a:endParaRPr lang="en-US" sz="1220" dirty="0"/>
          </a:p>
        </p:txBody>
      </p:sp>
      <p:sp>
        <p:nvSpPr>
          <p:cNvPr id="21" name="Shape 14"/>
          <p:cNvSpPr/>
          <p:nvPr/>
        </p:nvSpPr>
        <p:spPr>
          <a:xfrm>
            <a:off x="10588752" y="2697480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152131"/>
          </a:solidFill>
          <a:ln w="12700">
            <a:solidFill>
              <a:srgbClr val="23C488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0588752" y="276148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C488"/>
                </a:solidFill>
              </a:rPr>
              <a:t>Fluide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10588752" y="3218688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152131"/>
          </a:solidFill>
          <a:ln w="12700">
            <a:solidFill>
              <a:srgbClr val="E0B54B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0588752" y="32826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B54B"/>
                </a:solidFill>
              </a:rPr>
              <a:t>Lisible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10588752" y="3739896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152131"/>
          </a:solidFill>
          <a:ln w="12700">
            <a:solidFill>
              <a:srgbClr val="8B7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10588752" y="380390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BF2"/>
                </a:solidFill>
              </a:rPr>
              <a:t>Moderne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10588752" y="4261104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152131"/>
          </a:solidFill>
          <a:ln w="12700">
            <a:solidFill>
              <a:srgbClr val="4FA3F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0588752" y="432511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A3FF"/>
                </a:solidFill>
              </a:rPr>
              <a:t>Mobile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10588752" y="4782312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152131"/>
          </a:solidFill>
          <a:ln w="12700">
            <a:solidFill>
              <a:srgbClr val="E25C4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10588752" y="48463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5C4A"/>
                </a:solidFill>
              </a:rPr>
              <a:t>Local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31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7. Lecture vidéo et bibliothèque hors ligne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1133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Deux preuves produit particulièrement fortes dans une démonstration mobile.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868680" y="1664208"/>
            <a:ext cx="2240280" cy="4572000"/>
          </a:xfrm>
          <a:prstGeom prst="roundRect">
            <a:avLst>
              <a:gd name="adj" fmla="val 6531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WhatsApp Image 2026-04-22 at 11.14.34 (1)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694" y="1709928"/>
            <a:ext cx="2016252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6272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Lecteur vidéo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56432" y="1664208"/>
            <a:ext cx="2240280" cy="4572000"/>
          </a:xfrm>
          <a:prstGeom prst="roundRect">
            <a:avLst>
              <a:gd name="adj" fmla="val 6531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8" name="Image 1" descr="/mnt/data/WhatsApp Image 2026-04-22 at 11.14.34 (3)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446" y="1709928"/>
            <a:ext cx="2016252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6432" y="6272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Bibliothèque hors ligne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126480" y="1810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54B"/>
                </a:solidFill>
              </a:rPr>
              <a:t>Ce que ces écrans prouvent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144768" y="215798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80" b="1" dirty="0">
                <a:solidFill>
                  <a:srgbClr val="E0B54B"/>
                </a:solidFill>
              </a:rPr>
              <a:t>•</a:t>
            </a:r>
            <a:endParaRPr lang="en-US" sz="1880" dirty="0"/>
          </a:p>
        </p:txBody>
      </p:sp>
      <p:sp>
        <p:nvSpPr>
          <p:cNvPr id="12" name="Text 8"/>
          <p:cNvSpPr/>
          <p:nvPr/>
        </p:nvSpPr>
        <p:spPr>
          <a:xfrm>
            <a:off x="6309360" y="2148840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8CFDA"/>
                </a:solidFill>
              </a:rPr>
              <a:t>La vidéo reste au centre dans une interface simple et rassurante.</a:t>
            </a:r>
            <a:endParaRPr lang="en-US" sz="1680" dirty="0"/>
          </a:p>
        </p:txBody>
      </p:sp>
      <p:sp>
        <p:nvSpPr>
          <p:cNvPr id="13" name="Text 9"/>
          <p:cNvSpPr/>
          <p:nvPr/>
        </p:nvSpPr>
        <p:spPr>
          <a:xfrm>
            <a:off x="6144768" y="267004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80" b="1" dirty="0">
                <a:solidFill>
                  <a:srgbClr val="E0B54B"/>
                </a:solidFill>
              </a:rPr>
              <a:t>•</a:t>
            </a:r>
            <a:endParaRPr lang="en-US" sz="1880" dirty="0"/>
          </a:p>
        </p:txBody>
      </p:sp>
      <p:sp>
        <p:nvSpPr>
          <p:cNvPr id="14" name="Text 10"/>
          <p:cNvSpPr/>
          <p:nvPr/>
        </p:nvSpPr>
        <p:spPr>
          <a:xfrm>
            <a:off x="6309360" y="2660904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8CFDA"/>
                </a:solidFill>
              </a:rPr>
              <a:t>La continuité d’usage est visible : épisode suivant, progression, reprise.</a:t>
            </a:r>
            <a:endParaRPr lang="en-US" sz="1680" dirty="0"/>
          </a:p>
        </p:txBody>
      </p:sp>
      <p:sp>
        <p:nvSpPr>
          <p:cNvPr id="15" name="Text 11"/>
          <p:cNvSpPr/>
          <p:nvPr/>
        </p:nvSpPr>
        <p:spPr>
          <a:xfrm>
            <a:off x="6144768" y="318211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80" b="1" dirty="0">
                <a:solidFill>
                  <a:srgbClr val="E0B54B"/>
                </a:solidFill>
              </a:rPr>
              <a:t>•</a:t>
            </a:r>
            <a:endParaRPr lang="en-US" sz="1880" dirty="0"/>
          </a:p>
        </p:txBody>
      </p:sp>
      <p:sp>
        <p:nvSpPr>
          <p:cNvPr id="16" name="Text 12"/>
          <p:cNvSpPr/>
          <p:nvPr/>
        </p:nvSpPr>
        <p:spPr>
          <a:xfrm>
            <a:off x="6309360" y="3172968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8CFDA"/>
                </a:solidFill>
              </a:rPr>
              <a:t>Le mode hors ligne matérialise un bénéfice concret pour l’utilisateur mobile.</a:t>
            </a:r>
            <a:endParaRPr lang="en-US" sz="1680" dirty="0"/>
          </a:p>
        </p:txBody>
      </p:sp>
      <p:sp>
        <p:nvSpPr>
          <p:cNvPr id="17" name="Text 13"/>
          <p:cNvSpPr/>
          <p:nvPr/>
        </p:nvSpPr>
        <p:spPr>
          <a:xfrm>
            <a:off x="6144768" y="369417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80" b="1" dirty="0">
                <a:solidFill>
                  <a:srgbClr val="E0B54B"/>
                </a:solidFill>
              </a:rPr>
              <a:t>•</a:t>
            </a:r>
            <a:endParaRPr lang="en-US" sz="1880" dirty="0"/>
          </a:p>
        </p:txBody>
      </p:sp>
      <p:sp>
        <p:nvSpPr>
          <p:cNvPr id="18" name="Text 14"/>
          <p:cNvSpPr/>
          <p:nvPr/>
        </p:nvSpPr>
        <p:spPr>
          <a:xfrm>
            <a:off x="6309360" y="3685032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C8CFDA"/>
                </a:solidFill>
              </a:rPr>
              <a:t>La bibliothèque dédiée renforce le sentiment de maîtrise et de proximité.</a:t>
            </a:r>
            <a:endParaRPr lang="en-US" sz="1680" dirty="0"/>
          </a:p>
        </p:txBody>
      </p:sp>
      <p:sp>
        <p:nvSpPr>
          <p:cNvPr id="19" name="Shape 15"/>
          <p:cNvSpPr/>
          <p:nvPr/>
        </p:nvSpPr>
        <p:spPr>
          <a:xfrm>
            <a:off x="6144768" y="5084064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63056" y="5102352"/>
            <a:ext cx="73152" cy="877824"/>
          </a:xfrm>
          <a:prstGeom prst="rect">
            <a:avLst/>
          </a:prstGeom>
          <a:solidFill>
            <a:srgbClr val="23C488"/>
          </a:solidFill>
          <a:ln w="12700">
            <a:solidFill>
              <a:srgbClr val="23C488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45936" y="523036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Message à porter à l’oral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345936" y="5486400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SunuStream ne se limite pas à un catalogue : l’application accompagne réellement le visionnage.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31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8. Démonstration en direct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1133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Le support sert à préparer une démonstration courte, fluide et convaincante sur un vrai device mobile.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841248" y="1783080"/>
            <a:ext cx="4983480" cy="4343400"/>
          </a:xfrm>
          <a:prstGeom prst="roundRect">
            <a:avLst>
              <a:gd name="adj" fmla="val 3789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9933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F7F9"/>
                </a:solidFill>
              </a:rPr>
              <a:t>Séquence recommandée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38658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54B"/>
                </a:solidFill>
              </a:rPr>
              <a:t>•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261872" y="2377440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C8CFDA"/>
                </a:solidFill>
              </a:rPr>
              <a:t>Ouvrir l’accueil et montrer les contenus mis en avant.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1097280" y="289864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54B"/>
                </a:solidFill>
              </a:rPr>
              <a:t>•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261872" y="2889504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C8CFDA"/>
                </a:solidFill>
              </a:rPr>
              <a:t>Faire une recherche rapide sur un titre ou sur Pikini.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1097280" y="341071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54B"/>
                </a:solidFill>
              </a:rPr>
              <a:t>•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1261872" y="3401568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C8CFDA"/>
                </a:solidFill>
              </a:rPr>
              <a:t>Ouvrir une fiche contenu et parcourir le synopsis.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1097280" y="392277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54B"/>
                </a:solidFill>
              </a:rPr>
              <a:t>•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1261872" y="3913632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C8CFDA"/>
                </a:solidFill>
              </a:rPr>
              <a:t>Lancer une lecture.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1097280" y="443484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E0B54B"/>
                </a:solidFill>
              </a:rPr>
              <a:t>•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1261872" y="4425696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C8CFDA"/>
                </a:solidFill>
              </a:rPr>
              <a:t>Montrer la bibliothèque hors ligne.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1078992" y="5230368"/>
            <a:ext cx="4480560" cy="594360"/>
          </a:xfrm>
          <a:prstGeom prst="roundRect">
            <a:avLst>
              <a:gd name="adj" fmla="val 18462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5248656"/>
            <a:ext cx="73152" cy="557784"/>
          </a:xfrm>
          <a:prstGeom prst="rect">
            <a:avLst/>
          </a:prstGeom>
          <a:solidFill>
            <a:srgbClr val="E0B54B"/>
          </a:solidFill>
          <a:ln w="12700">
            <a:solidFill>
              <a:srgbClr val="E0B5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53766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Ce que la démo doit faire ressentir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632704"/>
            <a:ext cx="41696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Fluidité, simplicité, cohérence visuelle et maturité produit.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967728" y="1609344"/>
            <a:ext cx="1572768" cy="4892040"/>
          </a:xfrm>
          <a:prstGeom prst="roundRect">
            <a:avLst>
              <a:gd name="adj" fmla="val 9302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21" name="Image 0" descr="/mnt/data/WhatsApp Image 2026-04-22 at 11.14.3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48" y="2409444"/>
            <a:ext cx="1481328" cy="32918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967728" y="65379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Accueil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668512" y="1874520"/>
            <a:ext cx="1572768" cy="4480560"/>
          </a:xfrm>
          <a:prstGeom prst="roundRect">
            <a:avLst>
              <a:gd name="adj" fmla="val 9302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24" name="Image 1" descr="/mnt/data/WhatsApp Image 2026-04-22 at 11.14.34 (2)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232" y="2468880"/>
            <a:ext cx="1481328" cy="32918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668512" y="639165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Détail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0369296" y="2139696"/>
            <a:ext cx="1325880" cy="4206240"/>
          </a:xfrm>
          <a:prstGeom prst="roundRect">
            <a:avLst>
              <a:gd name="adj" fmla="val 11034"/>
            </a:avLst>
          </a:prstGeom>
          <a:solidFill>
            <a:srgbClr val="0B1119"/>
          </a:solidFill>
          <a:ln w="12700">
            <a:solidFill>
              <a:srgbClr val="2B3442"/>
            </a:solidFill>
            <a:prstDash val="solid"/>
          </a:ln>
        </p:spPr>
      </p:sp>
      <p:pic>
        <p:nvPicPr>
          <p:cNvPr id="27" name="Image 2" descr="/mnt/data/WhatsApp Image 2026-04-22 at 11.14.35 (2)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16" y="2871216"/>
            <a:ext cx="1234440" cy="2743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369296" y="63825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DA"/>
                </a:solidFill>
              </a:rPr>
              <a:t>Offline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31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9. Roadmap créative avec Pikini Production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1133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L’objectif n’est pas seulement de diffuser des contenus, mais de construire une présence éditoriale forte dans l’application.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73152" cy="1197864"/>
          </a:xfrm>
          <a:prstGeom prst="rect">
            <a:avLst/>
          </a:prstGeom>
          <a:solidFill>
            <a:srgbClr val="E0B54B"/>
          </a:solidFill>
          <a:ln w="12700">
            <a:solidFill>
              <a:srgbClr val="E0B5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293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Catalogue mis en avant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85416"/>
            <a:ext cx="31638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Vos films, séries et temps forts éditoriaux peuvent structurer l’identité visible de la plateforme dès son lancement.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3218688"/>
            <a:ext cx="73152" cy="1197864"/>
          </a:xfrm>
          <a:prstGeom prst="rect">
            <a:avLst/>
          </a:prstGeom>
          <a:solidFill>
            <a:srgbClr val="8B7BF2"/>
          </a:solidFill>
          <a:ln w="12700">
            <a:solidFill>
              <a:srgbClr val="8B7B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3467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Espace dédié Pikini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3602736"/>
            <a:ext cx="31638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Une présence identifiable dans l’interface pour renforcer la marque et l’univers éditorial.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31520" y="461772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636008"/>
            <a:ext cx="73152" cy="1197864"/>
          </a:xfrm>
          <a:prstGeom prst="rect">
            <a:avLst/>
          </a:prstGeom>
          <a:solidFill>
            <a:srgbClr val="23C488"/>
          </a:solidFill>
          <a:ln w="12700">
            <a:solidFill>
              <a:srgbClr val="23C48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7640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7F9"/>
                </a:solidFill>
              </a:rPr>
              <a:t>Temps forts exclusifs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5020056"/>
            <a:ext cx="31638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Avant-premières, coulisses, rendez-vous spéciaux et contenus événementiels pour enrichir l’expérience.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63440" y="18470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54B"/>
                </a:solidFill>
              </a:rPr>
              <a:t>Ce que nous voulons construire ensemble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2212848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Une expérience qui donne aux œuvres de Pikini une place forte, identifiable et mémorable dans l’univers SunuStream.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0016" y="380390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0B54B"/>
                </a:solidFill>
              </a:rPr>
              <a:t>•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4864608" y="3794760"/>
            <a:ext cx="5504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8CFDA"/>
                </a:solidFill>
              </a:rPr>
              <a:t>Mieux raconter les contenus.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700016" y="431596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0B54B"/>
                </a:solidFill>
              </a:rPr>
              <a:t>•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4864608" y="4306824"/>
            <a:ext cx="5504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8CFDA"/>
                </a:solidFill>
              </a:rPr>
              <a:t>Créer des rendez-vous visibles.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700016" y="482803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0B54B"/>
                </a:solidFill>
              </a:rPr>
              <a:t>•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4864608" y="4818888"/>
            <a:ext cx="5504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8CFDA"/>
                </a:solidFill>
              </a:rPr>
              <a:t>Renforcer la relation entre la marque Pikini et son public.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731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7F9"/>
                </a:solidFill>
              </a:rPr>
              <a:t>10. Conclusion &amp; échanges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1133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8CFDA"/>
                </a:solidFill>
              </a:rPr>
              <a:t>Une vision claire, un produit déjà visible et une démonstration concrète à partager demain.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749808" y="176479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0" b="1" dirty="0">
                <a:solidFill>
                  <a:srgbClr val="E0B54B"/>
                </a:solidFill>
              </a:rPr>
              <a:t>•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5458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C8CFDA"/>
                </a:solidFill>
              </a:rPr>
              <a:t>Le frontend mobile est déjà développé et démontrable.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749808" y="227685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0" b="1" dirty="0">
                <a:solidFill>
                  <a:srgbClr val="E0B54B"/>
                </a:solidFill>
              </a:rPr>
              <a:t>•</a:t>
            </a:r>
            <a:endParaRPr lang="en-US" sz="202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5458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C8CFDA"/>
                </a:solidFill>
              </a:rPr>
              <a:t>L’application propose un parcours simple, lisible et centré sur le contenu.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0" b="1" dirty="0">
                <a:solidFill>
                  <a:srgbClr val="E0B54B"/>
                </a:solidFill>
              </a:rPr>
              <a:t>•</a:t>
            </a:r>
            <a:endParaRPr lang="en-US" sz="2020" dirty="0"/>
          </a:p>
        </p:txBody>
      </p:sp>
      <p:sp>
        <p:nvSpPr>
          <p:cNvPr id="9" name="Text 7"/>
          <p:cNvSpPr/>
          <p:nvPr/>
        </p:nvSpPr>
        <p:spPr>
          <a:xfrm>
            <a:off x="914400" y="2779776"/>
            <a:ext cx="5458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C8CFDA"/>
                </a:solidFill>
              </a:rPr>
              <a:t>Le storytelling produit valorise naturellement les œuvres et l’univers Pikini.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749808" y="330098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20" b="1" dirty="0">
                <a:solidFill>
                  <a:srgbClr val="E0B54B"/>
                </a:solidFill>
              </a:rPr>
              <a:t>•</a:t>
            </a:r>
            <a:endParaRPr lang="en-US" sz="202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5458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C8CFDA"/>
                </a:solidFill>
              </a:rPr>
              <a:t>La réunion peut s’appuyer sur une vraie démo plutôt que sur un discours abstrait.</a:t>
            </a:r>
            <a:endParaRPr lang="en-US" sz="1820" dirty="0"/>
          </a:p>
        </p:txBody>
      </p:sp>
      <p:sp>
        <p:nvSpPr>
          <p:cNvPr id="12" name="Shape 10"/>
          <p:cNvSpPr/>
          <p:nvPr/>
        </p:nvSpPr>
        <p:spPr>
          <a:xfrm>
            <a:off x="6720840" y="1737360"/>
            <a:ext cx="4709160" cy="4526280"/>
          </a:xfrm>
          <a:prstGeom prst="roundRect">
            <a:avLst>
              <a:gd name="adj" fmla="val 3232"/>
            </a:avLst>
          </a:prstGeom>
          <a:solidFill>
            <a:srgbClr val="111A27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54B"/>
                </a:solidFill>
              </a:rPr>
              <a:t>Phrase de clôture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22592" y="2395728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F7F9"/>
                </a:solidFill>
              </a:rPr>
              <a:t>« SunuStream veut offrir aux contenus sénégalais une expérience de visionnage à leur hauteur : claire, moderne, locale et déjà démontrable. »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22592" y="5212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C488"/>
                </a:solidFill>
              </a:rPr>
              <a:t>Merci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37376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A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SunuStream – Présentation pour Pikini Production</dc:title>
  <dc:subject>Présentation SunuStream</dc:subject>
  <dc:creator>Laurent  MAVOUNGOU</dc:creator>
  <cp:lastModifiedBy>OpenAI</cp:lastModifiedBy>
  <cp:revision>1</cp:revision>
  <dcterms:created xsi:type="dcterms:W3CDTF">2026-04-22T11:38:57Z</dcterms:created>
  <dcterms:modified xsi:type="dcterms:W3CDTF">2026-04-22T11:38:57Z</dcterms:modified>
</cp:coreProperties>
</file>